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3474720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FIELD OPERATIONS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Supervisor Location Monitoring &amp;</a:t>
            </a:r>
            <a:br/>
            <a:r>
              <a:t>Bike Conveyance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6B6D4"/>
                </a:solidFill>
              </a:defRPr>
            </a:pPr>
            <a:r>
              <a:t>Complete Visual Walkthrough: User Login, Duty Workflow &amp; Full Admin Access Control (A to Z)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97680"/>
            <a:ext cx="2560320" cy="1463040"/>
          </a:xfrm>
          <a:prstGeom prst="roundRect">
            <a:avLst/>
          </a:prstGeom>
          <a:solidFill>
            <a:srgbClr val="182138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434840"/>
            <a:ext cx="2286000" cy="11887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📍 Live GPS Tracking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Anti-drift breadcrumbs &amp; speed sanity filtering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4297680"/>
            <a:ext cx="2560320" cy="1463040"/>
          </a:xfrm>
          <a:prstGeom prst="roundRect">
            <a:avLst/>
          </a:prstGeom>
          <a:solidFill>
            <a:srgbClr val="182138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4434840"/>
            <a:ext cx="2286000" cy="11887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📸 AI Odometer OCR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Live camera dial scan with auto numeric 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4297680"/>
            <a:ext cx="2560320" cy="1463040"/>
          </a:xfrm>
          <a:prstGeom prst="roundRect">
            <a:avLst/>
          </a:prstGeom>
          <a:solidFill>
            <a:srgbClr val="182138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4434840"/>
            <a:ext cx="2286000" cy="11887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🛡️ Hardware Security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Developer options block &amp; mock location rejection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4297680"/>
            <a:ext cx="2560320" cy="1463040"/>
          </a:xfrm>
          <a:prstGeom prst="roundRect">
            <a:avLst/>
          </a:prstGeom>
          <a:solidFill>
            <a:srgbClr val="182138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4434840"/>
            <a:ext cx="2286000" cy="118872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📊 1-Click Conveyance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Day-wise attendance &amp; Excel payroll 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GeoConvey • Supervisor Location Monitoring &amp; Bike Conveyance System  |  Confidential  |  Slide 1 of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EXECUTIVE SUMMARY &amp; OPERATIONAL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The Business Problem vs. The GeoConvey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F4444"/>
                </a:solidFill>
              </a:defRPr>
            </a:pPr>
            <a:r>
              <a:t>❌ Legacy Field Operations Pain Points</a:t>
            </a:r>
          </a:p>
          <a:p>
            <a:pPr>
              <a:spcBef>
                <a:spcPts val="1000"/>
              </a:spcBef>
            </a:pPr>
            <a:r>
              <a:rPr b="1" sz="1100"/>
              <a:t>• Inflated Odometer Claims: </a:t>
            </a:r>
            <a:r>
              <a:rPr sz="1050">
                <a:solidFill>
                  <a:srgbClr val="475569"/>
                </a:solidFill>
              </a:rPr>
              <a:t>Supervisors manually write inflated mileage with zero visual proof.</a:t>
            </a:r>
          </a:p>
          <a:p>
            <a:pPr>
              <a:spcBef>
                <a:spcPts val="1000"/>
              </a:spcBef>
            </a:pPr>
            <a:r>
              <a:rPr b="1" sz="1100"/>
              <a:t>• Ghost Site Visits: </a:t>
            </a:r>
            <a:r>
              <a:rPr sz="1050">
                <a:solidFill>
                  <a:srgbClr val="475569"/>
                </a:solidFill>
              </a:rPr>
              <a:t>Supervisors claim presence on sites they never visited or arrive hours late.</a:t>
            </a:r>
          </a:p>
          <a:p>
            <a:pPr>
              <a:spcBef>
                <a:spcPts val="1000"/>
              </a:spcBef>
            </a:pPr>
            <a:r>
              <a:rPr b="1" sz="1100"/>
              <a:t>• Mock Location Apps: </a:t>
            </a:r>
            <a:r>
              <a:rPr sz="1050">
                <a:solidFill>
                  <a:srgbClr val="475569"/>
                </a:solidFill>
              </a:rPr>
              <a:t>Staff use Fake GPS joysticks to simulate movement from home.</a:t>
            </a:r>
          </a:p>
          <a:p>
            <a:pPr>
              <a:spcBef>
                <a:spcPts val="1000"/>
              </a:spcBef>
            </a:pPr>
            <a:r>
              <a:rPr b="1" sz="1100"/>
              <a:t>• Manual Billing Arguments: </a:t>
            </a:r>
            <a:r>
              <a:rPr sz="1050">
                <a:solidFill>
                  <a:srgbClr val="475569"/>
                </a:solidFill>
              </a:rPr>
              <a:t>Accounts spends days debating handwritten logbooks and receipts.</a:t>
            </a:r>
          </a:p>
          <a:p>
            <a:pPr>
              <a:spcBef>
                <a:spcPts val="1000"/>
              </a:spcBef>
            </a:pPr>
            <a:r>
              <a:rPr b="1" sz="1100"/>
              <a:t>• Zero Field Visibility: </a:t>
            </a:r>
            <a:r>
              <a:rPr sz="1050">
                <a:solidFill>
                  <a:srgbClr val="475569"/>
                </a:solidFill>
              </a:rPr>
              <a:t>Management has zero real-time map tracking during active duty hours.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59669"/>
                </a:solidFill>
              </a:defRPr>
            </a:pPr>
            <a:r>
              <a:t>✅ The GeoConvey Solution</a:t>
            </a:r>
          </a:p>
          <a:p>
            <a:pPr>
              <a:spcBef>
                <a:spcPts val="1000"/>
              </a:spcBef>
            </a:pPr>
            <a:r>
              <a:rPr b="1" sz="1100"/>
              <a:t>• AI Odometer Dial OCR: </a:t>
            </a:r>
            <a:r>
              <a:rPr sz="1050">
                <a:solidFill>
                  <a:srgbClr val="475569"/>
                </a:solidFill>
              </a:rPr>
              <a:t>Camera-only snap of bike dial; auto-extracts digits with supervisor confirmation.</a:t>
            </a:r>
          </a:p>
          <a:p>
            <a:pPr>
              <a:spcBef>
                <a:spcPts val="1000"/>
              </a:spcBef>
            </a:pPr>
            <a:r>
              <a:rPr b="1" sz="1100"/>
              <a:t>• Live Geo-Tagged Selfies: </a:t>
            </a:r>
            <a:r>
              <a:rPr sz="1050">
                <a:solidFill>
                  <a:srgbClr val="475569"/>
                </a:solidFill>
              </a:rPr>
              <a:t>Mandatory start/end front camera photos embedded with GPS &amp; timestamps.</a:t>
            </a:r>
          </a:p>
          <a:p>
            <a:pPr>
              <a:spcBef>
                <a:spcPts val="1000"/>
              </a:spcBef>
            </a:pPr>
            <a:r>
              <a:rPr b="1" sz="1100"/>
              <a:t>• Developer Mode Lockdown: </a:t>
            </a:r>
            <a:r>
              <a:rPr sz="1050">
                <a:solidFill>
                  <a:srgbClr val="475569"/>
                </a:solidFill>
              </a:rPr>
              <a:t>Automated hardware detection kills duty if Developer Options are enabled.</a:t>
            </a:r>
          </a:p>
          <a:p>
            <a:pPr>
              <a:spcBef>
                <a:spcPts val="1000"/>
              </a:spcBef>
            </a:pPr>
            <a:r>
              <a:rPr b="1" sz="1100"/>
              <a:t>• Smart Variance Engine: </a:t>
            </a:r>
            <a:r>
              <a:rPr sz="1050">
                <a:solidFill>
                  <a:srgbClr val="475569"/>
                </a:solidFill>
              </a:rPr>
              <a:t>Cross-checks GPS vs Odometer; flags discrepancies over 15% for audit.</a:t>
            </a:r>
          </a:p>
          <a:p>
            <a:pPr>
              <a:spcBef>
                <a:spcPts val="1000"/>
              </a:spcBef>
            </a:pPr>
            <a:r>
              <a:rPr b="1" sz="1100"/>
              <a:t>• Supervisor In-App Calendar: </a:t>
            </a:r>
            <a:r>
              <a:rPr sz="1050">
                <a:solidFill>
                  <a:srgbClr val="475569"/>
                </a:solidFill>
              </a:rPr>
              <a:t>Supervisors see their own approved KM &amp; conveyance ₹ daily on mobile.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GeoConvey • Supervisor Location Monitoring &amp; Bike Conveyance System  |  Confidential  |  Slide 2 of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ROLE-BASED ACCESS CONTROL (RBAC)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System Access Hierarchy: Supervisor vs. Administrator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📱 Supervisor Access Scope (Mobile App)</a:t>
            </a:r>
          </a:p>
          <a:p>
            <a:pPr>
              <a:spcBef>
                <a:spcPts val="800"/>
              </a:spcBef>
            </a:pPr>
            <a:r>
              <a:rPr b="1" sz="1050"/>
              <a:t>• Login Authentication: </a:t>
            </a:r>
            <a:r>
              <a:rPr sz="1000">
                <a:solidFill>
                  <a:srgbClr val="64748B"/>
                </a:solidFill>
              </a:rPr>
              <a:t>Login via unique Employee ID and secure password/PIN.</a:t>
            </a:r>
          </a:p>
          <a:p>
            <a:pPr>
              <a:spcBef>
                <a:spcPts val="800"/>
              </a:spcBef>
            </a:pPr>
            <a:r>
              <a:rPr b="1" sz="1050"/>
              <a:t>• Start Duty Execution: </a:t>
            </a:r>
            <a:r>
              <a:rPr sz="1000">
                <a:solidFill>
                  <a:srgbClr val="64748B"/>
                </a:solidFill>
              </a:rPr>
              <a:t>Live selfie capture + Bike odometer OCR scanning + GPS fix.</a:t>
            </a:r>
          </a:p>
          <a:p>
            <a:pPr>
              <a:spcBef>
                <a:spcPts val="800"/>
              </a:spcBef>
            </a:pPr>
            <a:r>
              <a:rPr b="1" sz="1050"/>
              <a:t>• Active Duty Tracking: </a:t>
            </a:r>
            <a:r>
              <a:rPr sz="1000">
                <a:solidFill>
                  <a:srgbClr val="64748B"/>
                </a:solidFill>
              </a:rPr>
              <a:t>Live distance counter, elapsed time, current conveyance estimate.</a:t>
            </a:r>
          </a:p>
          <a:p>
            <a:pPr>
              <a:spcBef>
                <a:spcPts val="800"/>
              </a:spcBef>
            </a:pPr>
            <a:r>
              <a:rPr b="1" sz="1050"/>
              <a:t>• End Duty Submission: </a:t>
            </a:r>
            <a:r>
              <a:rPr sz="1000">
                <a:solidFill>
                  <a:srgbClr val="64748B"/>
                </a:solidFill>
              </a:rPr>
              <a:t>Closing selfie + End odometer OCR scan + Duty summary submission.</a:t>
            </a:r>
          </a:p>
          <a:p>
            <a:pPr>
              <a:spcBef>
                <a:spcPts val="800"/>
              </a:spcBef>
            </a:pPr>
            <a:r>
              <a:rPr b="1" sz="1050"/>
              <a:t>• Personal Attendance Calendar: </a:t>
            </a:r>
            <a:r>
              <a:rPr sz="1000">
                <a:solidFill>
                  <a:srgbClr val="64748B"/>
                </a:solidFill>
              </a:rPr>
              <a:t>View own monthly calendar (P, WO, Today, A) and approved bike run KM.</a:t>
            </a:r>
          </a:p>
          <a:p>
            <a:pPr>
              <a:spcBef>
                <a:spcPts val="800"/>
              </a:spcBef>
            </a:pPr>
            <a:r>
              <a:rPr b="1" sz="1050"/>
              <a:t>• Personal History &amp; Profile: </a:t>
            </a:r>
            <a:r>
              <a:rPr sz="1000">
                <a:solidFill>
                  <a:srgbClr val="64748B"/>
                </a:solidFill>
              </a:rPr>
              <a:t>View past completed duty sessions and change login password.</a:t>
            </a:r>
          </a:p>
          <a:p>
            <a:pPr>
              <a:spcBef>
                <a:spcPts val="800"/>
              </a:spcBef>
            </a:pPr>
            <a:r>
              <a:rPr b="1" sz="1050"/>
              <a:t>• In-App Updates: </a:t>
            </a:r>
            <a:r>
              <a:rPr sz="1000">
                <a:solidFill>
                  <a:srgbClr val="64748B"/>
                </a:solidFill>
              </a:rPr>
              <a:t>1-tap APK downloader and installer without Play Store account.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59669"/>
                </a:solidFill>
              </a:defRPr>
            </a:pPr>
            <a:r>
              <a:t>💻 Administrator Access Scope (Web Portal)</a:t>
            </a:r>
          </a:p>
          <a:p>
            <a:pPr>
              <a:spcBef>
                <a:spcPts val="800"/>
              </a:spcBef>
            </a:pPr>
            <a:r>
              <a:rPr b="1" sz="1050"/>
              <a:t>• Real-Time Fleet Map: </a:t>
            </a:r>
            <a:r>
              <a:rPr sz="1000">
                <a:solidFill>
                  <a:srgbClr val="64748B"/>
                </a:solidFill>
              </a:rPr>
              <a:t>Full live map tracking of all supervisors with telemetry and status.</a:t>
            </a:r>
          </a:p>
          <a:p>
            <a:pPr>
              <a:spcBef>
                <a:spcPts val="800"/>
              </a:spcBef>
            </a:pPr>
            <a:r>
              <a:rPr b="1" sz="1050"/>
              <a:t>• Session Audit &amp; Verification: </a:t>
            </a:r>
            <a:r>
              <a:rPr sz="1000">
                <a:solidFill>
                  <a:srgbClr val="64748B"/>
                </a:solidFill>
              </a:rPr>
              <a:t>Side-by-side photo inspection, route playback, and 1-click Approve/Reject.</a:t>
            </a:r>
          </a:p>
          <a:p>
            <a:pPr>
              <a:spcBef>
                <a:spcPts val="800"/>
              </a:spcBef>
            </a:pPr>
            <a:r>
              <a:rPr b="1" sz="1050"/>
              <a:t>• Company Attendance Register: </a:t>
            </a:r>
            <a:r>
              <a:rPr sz="1000">
                <a:solidFill>
                  <a:srgbClr val="64748B"/>
                </a:solidFill>
              </a:rPr>
              <a:t>Full monthly 1-31 attendance grid (P, WO, A) with 1-click Excel export.</a:t>
            </a:r>
          </a:p>
          <a:p>
            <a:pPr>
              <a:spcBef>
                <a:spcPts val="800"/>
              </a:spcBef>
            </a:pPr>
            <a:r>
              <a:rPr b="1" sz="1050"/>
              <a:t>• Conveyance Payroll Register: </a:t>
            </a:r>
            <a:r>
              <a:rPr sz="1000">
                <a:solidFill>
                  <a:srgbClr val="64748B"/>
                </a:solidFill>
              </a:rPr>
              <a:t>Day-wise approved KM, per-KM rates, total payouts in Excel (.xlsx).</a:t>
            </a:r>
          </a:p>
          <a:p>
            <a:pPr>
              <a:spcBef>
                <a:spcPts val="800"/>
              </a:spcBef>
            </a:pPr>
            <a:r>
              <a:rPr b="1" sz="1050"/>
              <a:t>• Supervisor Management: </a:t>
            </a:r>
            <a:r>
              <a:rPr sz="1000">
                <a:solidFill>
                  <a:srgbClr val="64748B"/>
                </a:solidFill>
              </a:rPr>
              <a:t>Create/edit supervisor profiles, assign bike numbers and conveyance rates (₹/KM).</a:t>
            </a:r>
          </a:p>
          <a:p>
            <a:pPr>
              <a:spcBef>
                <a:spcPts val="800"/>
              </a:spcBef>
            </a:pPr>
            <a:r>
              <a:rPr b="1" sz="1050"/>
              <a:t>• Security &amp; Audit Trails: </a:t>
            </a:r>
            <a:r>
              <a:rPr sz="1000">
                <a:solidFill>
                  <a:srgbClr val="64748B"/>
                </a:solidFill>
              </a:rPr>
              <a:t>Inspect Developer Mode violations, mock GPS attempts, and audit logs.</a:t>
            </a:r>
          </a:p>
          <a:p>
            <a:pPr>
              <a:spcBef>
                <a:spcPts val="800"/>
              </a:spcBef>
            </a:pPr>
            <a:r>
              <a:rPr b="1" sz="1050"/>
              <a:t>• App Version Control: </a:t>
            </a:r>
            <a:r>
              <a:rPr sz="1000">
                <a:solidFill>
                  <a:srgbClr val="64748B"/>
                </a:solidFill>
              </a:rPr>
              <a:t>Publish new APK updates and configure mandatory update thresholds.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GeoConvey • Supervisor Location Monitoring &amp; Bike Conveyance System  |  Confidential  |  Slide 3 of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STEP 1: SUPERVISOR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Screen 1: Supervisor Mobile Login &amp; Device Security</a:t>
            </a:r>
          </a:p>
        </p:txBody>
      </p:sp>
      <p:pic>
        <p:nvPicPr>
          <p:cNvPr id="4" name="Picture 3" descr="snap_user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2468880" cy="50553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474720" y="1234440"/>
            <a:ext cx="7955279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39" y="1417320"/>
            <a:ext cx="7406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📱 What the Supervisor Sees on Mobile</a:t>
            </a:r>
          </a:p>
          <a:p>
            <a:pPr>
              <a:spcBef>
                <a:spcPts val="1000"/>
              </a:spcBef>
            </a:pPr>
            <a:r>
              <a:rPr b="1" sz="1150"/>
              <a:t>• Employee ID &amp; Password Entry: </a:t>
            </a:r>
            <a:r>
              <a:rPr sz="1050">
                <a:solidFill>
                  <a:srgbClr val="64748B"/>
                </a:solidFill>
              </a:rPr>
              <a:t>Supervisors sign in with their unique employee credentials assigned by HR/Admin.</a:t>
            </a:r>
          </a:p>
          <a:p>
            <a:pPr>
              <a:spcBef>
                <a:spcPts val="1000"/>
              </a:spcBef>
            </a:pPr>
            <a:r>
              <a:rPr b="1" sz="1150"/>
              <a:t>• Cloud Server Discovery: </a:t>
            </a:r>
            <a:r>
              <a:rPr sz="1050">
                <a:solidFill>
                  <a:srgbClr val="64748B"/>
                </a:solidFill>
              </a:rPr>
              <a:t>Automatically connects to live production cloud backend (https://supervisor-api-vvba.onrender.com).</a:t>
            </a:r>
          </a:p>
          <a:p>
            <a:pPr>
              <a:spcBef>
                <a:spcPts val="1000"/>
              </a:spcBef>
            </a:pPr>
            <a:r>
              <a:rPr b="1" sz="1150"/>
              <a:t>• Single-Device Session Binding: </a:t>
            </a:r>
            <a:r>
              <a:rPr sz="1050">
                <a:solidFill>
                  <a:srgbClr val="64748B"/>
                </a:solidFill>
              </a:rPr>
              <a:t>Encrypted JWT auth tokens prevent concurrent logins from unauthorized third-party devices.</a:t>
            </a:r>
          </a:p>
          <a:p>
            <a:pPr>
              <a:spcBef>
                <a:spcPts val="1000"/>
              </a:spcBef>
            </a:pPr>
            <a:r>
              <a:rPr b="1" sz="1150"/>
              <a:t>• Offline Credential Cache: </a:t>
            </a:r>
            <a:r>
              <a:rPr sz="1050">
                <a:solidFill>
                  <a:srgbClr val="64748B"/>
                </a:solidFill>
              </a:rPr>
              <a:t>Credentials securely encrypted on device to allow field operation even if network is temporarily down.</a:t>
            </a:r>
          </a:p>
          <a:p>
            <a:pPr>
              <a:spcBef>
                <a:spcPts val="1400"/>
              </a:spcBef>
              <a:defRPr sz="1500" b="1">
                <a:solidFill>
                  <a:srgbClr val="059669"/>
                </a:solidFill>
              </a:defRPr>
            </a:pPr>
            <a:r>
              <a:t>🛡️ Behind-the-Scenes Security Pre-Check</a:t>
            </a:r>
          </a:p>
          <a:p>
            <a:pPr>
              <a:spcBef>
                <a:spcPts val="800"/>
              </a:spcBef>
            </a:pPr>
            <a:r>
              <a:rPr b="1" sz="1150"/>
              <a:t>• App Version Validation: </a:t>
            </a:r>
            <a:r>
              <a:rPr sz="1050">
                <a:solidFill>
                  <a:srgbClr val="64748B"/>
                </a:solidFill>
              </a:rPr>
              <a:t>Checks if installed APK is up-to-date; alerts user if a newer build is required.</a:t>
            </a:r>
          </a:p>
          <a:p>
            <a:pPr>
              <a:spcBef>
                <a:spcPts val="800"/>
              </a:spcBef>
            </a:pPr>
            <a:r>
              <a:rPr b="1" sz="1150"/>
              <a:t>• Developer Options Interception: </a:t>
            </a:r>
            <a:r>
              <a:rPr sz="1050">
                <a:solidFill>
                  <a:srgbClr val="64748B"/>
                </a:solidFill>
              </a:rPr>
              <a:t>Instant native check ensures Developer Mode is disabled before granting duty access.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GeoConvey • Supervisor Location Monitoring &amp; Bike Conveyance System  |  Confidential  |  Slide 4 of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ANTI-SPOOFING &amp; FAKE GPS 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Screen 2: Hardware-Level Security Wall (Developer Mode Block)</a:t>
            </a:r>
          </a:p>
        </p:txBody>
      </p:sp>
      <p:pic>
        <p:nvPicPr>
          <p:cNvPr id="4" name="Picture 3" descr="snap_security_blo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2468880" cy="50553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474720" y="1234440"/>
            <a:ext cx="7955279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39" y="1417320"/>
            <a:ext cx="7406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🚫 Zero-Tolerance Mock GPS Policy</a:t>
            </a:r>
          </a:p>
          <a:p>
            <a:pPr>
              <a:spcBef>
                <a:spcPts val="1000"/>
              </a:spcBef>
            </a:pPr>
            <a:r>
              <a:rPr b="1" sz="1150"/>
              <a:t>• Why Developer Options are Blocked: </a:t>
            </a:r>
            <a:r>
              <a:rPr sz="1050">
                <a:solidFill>
                  <a:srgbClr val="64748B"/>
                </a:solidFill>
              </a:rPr>
              <a:t>Developer Options in Android allow apps like 'Fake GPS Joystick' to inject fake coordinates.</a:t>
            </a:r>
          </a:p>
          <a:p>
            <a:pPr>
              <a:spcBef>
                <a:spcPts val="1000"/>
              </a:spcBef>
            </a:pPr>
            <a:r>
              <a:rPr b="1" sz="1150"/>
              <a:t>• Immediate Duty Killswitch: </a:t>
            </a:r>
            <a:r>
              <a:rPr sz="1050">
                <a:solidFill>
                  <a:srgbClr val="64748B"/>
                </a:solidFill>
              </a:rPr>
              <a:t>If a supervisor enables Developer Options while On Duty, tracking halts immediately to protect company records.</a:t>
            </a:r>
          </a:p>
          <a:p>
            <a:pPr>
              <a:spcBef>
                <a:spcPts val="1000"/>
              </a:spcBef>
            </a:pPr>
            <a:r>
              <a:rPr b="1" sz="1150"/>
              <a:t>• Unbypassable Full-Screen Guard: </a:t>
            </a:r>
            <a:r>
              <a:rPr sz="1050">
                <a:solidFill>
                  <a:srgbClr val="64748B"/>
                </a:solidFill>
              </a:rPr>
              <a:t>The app will NOT allow starting duty or accumulating distance until Developer Mode is turned off.</a:t>
            </a:r>
          </a:p>
          <a:p>
            <a:pPr>
              <a:spcBef>
                <a:spcPts val="1000"/>
              </a:spcBef>
            </a:pPr>
            <a:r>
              <a:rPr b="1" sz="1150"/>
              <a:t>• One-Tap Settings Deep Link: </a:t>
            </a:r>
            <a:r>
              <a:rPr sz="1050">
                <a:solidFill>
                  <a:srgbClr val="64748B"/>
                </a:solidFill>
              </a:rPr>
              <a:t>The 'Open Android Settings' button takes the user directly to the toggle switch on their phone.</a:t>
            </a:r>
          </a:p>
          <a:p>
            <a:pPr>
              <a:spcBef>
                <a:spcPts val="1000"/>
              </a:spcBef>
            </a:pPr>
            <a:r>
              <a:rPr b="1" sz="1150"/>
              <a:t>• Instant Auto-Resume: </a:t>
            </a:r>
            <a:r>
              <a:rPr sz="1050">
                <a:solidFill>
                  <a:srgbClr val="64748B"/>
                </a:solidFill>
              </a:rPr>
              <a:t>Tapping 'Recheck Security Status' verifies the toggle is OFF and unlocks the app in 1 second.</a:t>
            </a:r>
          </a:p>
          <a:p>
            <a:pPr>
              <a:spcBef>
                <a:spcPts val="1400"/>
              </a:spcBef>
              <a:defRPr sz="1500" b="1">
                <a:solidFill>
                  <a:srgbClr val="059669"/>
                </a:solidFill>
              </a:defRPr>
            </a:pPr>
            <a:r>
              <a:t>💡 Business Value to Management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Guarantees that 100% of recorded conveyance claims originate from real physical travel on the road, completely eliminating digital GPS spoofing fraud.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GeoConvey • Supervisor Location Monitoring &amp; Bike Conveyance System  |  Confidential  |  Slide 5 of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STEP 2: MORNING DUTY KICKOFF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Screen 3: Start Duty Wizard – Mandatory Live Selfie</a:t>
            </a:r>
          </a:p>
        </p:txBody>
      </p:sp>
      <p:pic>
        <p:nvPicPr>
          <p:cNvPr id="4" name="Picture 3" descr="snap_start_duty_self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2468880" cy="50553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474720" y="1234440"/>
            <a:ext cx="7955279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39" y="1417320"/>
            <a:ext cx="7406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📸 Live Front Camera Selfie Verification</a:t>
            </a:r>
          </a:p>
          <a:p>
            <a:pPr>
              <a:spcBef>
                <a:spcPts val="1000"/>
              </a:spcBef>
            </a:pPr>
            <a:r>
              <a:rPr b="1" sz="1150"/>
              <a:t>• Physical Presence Verification: </a:t>
            </a:r>
            <a:r>
              <a:rPr sz="1050">
                <a:solidFill>
                  <a:srgbClr val="64748B"/>
                </a:solidFill>
              </a:rPr>
              <a:t>Confirms that the actual assigned supervisor is present at the duty start point.</a:t>
            </a:r>
          </a:p>
          <a:p>
            <a:pPr>
              <a:spcBef>
                <a:spcPts val="1000"/>
              </a:spcBef>
            </a:pPr>
            <a:r>
              <a:rPr b="1" sz="1150"/>
              <a:t>• Gallery Upload Strictly Prohibited: </a:t>
            </a:r>
            <a:r>
              <a:rPr sz="1050">
                <a:solidFill>
                  <a:srgbClr val="64748B"/>
                </a:solidFill>
              </a:rPr>
              <a:t>The app bypasses file managers and album selection. Only live camera captures are accepted.</a:t>
            </a:r>
          </a:p>
          <a:p>
            <a:pPr>
              <a:spcBef>
                <a:spcPts val="1000"/>
              </a:spcBef>
            </a:pPr>
            <a:r>
              <a:rPr b="1" sz="1150"/>
              <a:t>• Cryptographic Watermark: </a:t>
            </a:r>
            <a:r>
              <a:rPr sz="1050">
                <a:solidFill>
                  <a:srgbClr val="64748B"/>
                </a:solidFill>
              </a:rPr>
              <a:t>Latitude, longitude, accuracy radius, and exact timestamp (IST) are stamped into image metadata.</a:t>
            </a:r>
          </a:p>
          <a:p>
            <a:pPr>
              <a:spcBef>
                <a:spcPts val="1000"/>
              </a:spcBef>
            </a:pPr>
            <a:r>
              <a:rPr b="1" sz="1150"/>
              <a:t>• Face Alignment Guide: </a:t>
            </a:r>
            <a:r>
              <a:rPr sz="1050">
                <a:solidFill>
                  <a:srgbClr val="64748B"/>
                </a:solidFill>
              </a:rPr>
              <a:t>An on-screen oval guide helps the supervisor align their face for clear, audit-ready photos.</a:t>
            </a:r>
          </a:p>
          <a:p>
            <a:pPr>
              <a:spcBef>
                <a:spcPts val="1000"/>
              </a:spcBef>
            </a:pPr>
            <a:r>
              <a:rPr b="1" sz="1150"/>
              <a:t>• Cloudinary Encrypted Upload: </a:t>
            </a:r>
            <a:r>
              <a:rPr sz="1050">
                <a:solidFill>
                  <a:srgbClr val="64748B"/>
                </a:solidFill>
              </a:rPr>
              <a:t>Photos are compressed, optimized, and uploaded to secure cloud storage for instant Admin review.</a:t>
            </a:r>
          </a:p>
          <a:p>
            <a:pPr>
              <a:spcBef>
                <a:spcPts val="1400"/>
              </a:spcBef>
              <a:defRPr sz="1500" b="1">
                <a:solidFill>
                  <a:srgbClr val="059669"/>
                </a:solidFill>
              </a:defRPr>
            </a:pPr>
            <a:r>
              <a:t>🛡️ Anti-Proxy Guarantee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Supervisors cannot ask a friend or family member to clock in on their behalf. The photo is compared side-by-side in the Admin Audit console.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GeoConvey • Supervisor Location Monitoring &amp; Bike Conveyance System  |  Confidential  |  Slide 6 of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STEP 2: MORNING DUTY KICKOFF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Screen 4: Start Duty Wizard – Bike Odometer AI OCR Scan</a:t>
            </a:r>
          </a:p>
        </p:txBody>
      </p:sp>
      <p:pic>
        <p:nvPicPr>
          <p:cNvPr id="4" name="Picture 3" descr="snap_start_duty_odome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2468880" cy="50553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474720" y="1234440"/>
            <a:ext cx="7955279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39" y="1417320"/>
            <a:ext cx="7406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🔍 AI OCR Odometer Dial Recognition</a:t>
            </a:r>
          </a:p>
          <a:p>
            <a:pPr>
              <a:spcBef>
                <a:spcPts val="1000"/>
              </a:spcBef>
            </a:pPr>
            <a:r>
              <a:rPr b="1" sz="1150"/>
              <a:t>• Direct Rear Camera Capture: </a:t>
            </a:r>
            <a:r>
              <a:rPr sz="1050">
                <a:solidFill>
                  <a:srgbClr val="64748B"/>
                </a:solidFill>
              </a:rPr>
              <a:t>Supervisors photograph their bike speedometer/odometer meter dial.</a:t>
            </a:r>
          </a:p>
          <a:p>
            <a:pPr>
              <a:spcBef>
                <a:spcPts val="1000"/>
              </a:spcBef>
            </a:pPr>
            <a:r>
              <a:rPr b="1" sz="1150"/>
              <a:t>• Automated Digit Extraction: </a:t>
            </a:r>
            <a:r>
              <a:rPr sz="1050">
                <a:solidFill>
                  <a:srgbClr val="64748B"/>
                </a:solidFill>
              </a:rPr>
              <a:t>Computer vision OCR algorithm scans mechanical drum dials and digital LCDs to read kilometers.</a:t>
            </a:r>
          </a:p>
          <a:p>
            <a:pPr>
              <a:spcBef>
                <a:spcPts val="1000"/>
              </a:spcBef>
            </a:pPr>
            <a:r>
              <a:rPr b="1" sz="1150"/>
              <a:t>• Instant Confirmation with Edit: </a:t>
            </a:r>
            <a:r>
              <a:rPr sz="1050">
                <a:solidFill>
                  <a:srgbClr val="64748B"/>
                </a:solidFill>
              </a:rPr>
              <a:t>Detected reading (e.g. 12,450 KM) is shown with a manual edit option for glare or dirty dials.</a:t>
            </a:r>
          </a:p>
          <a:p>
            <a:pPr>
              <a:spcBef>
                <a:spcPts val="1000"/>
              </a:spcBef>
            </a:pPr>
            <a:r>
              <a:rPr b="1" sz="1150"/>
              <a:t>• Logical Mileage Consistency: </a:t>
            </a:r>
            <a:r>
              <a:rPr sz="1050">
                <a:solidFill>
                  <a:srgbClr val="64748B"/>
                </a:solidFill>
              </a:rPr>
              <a:t>Start odometer must be &gt;= previous session's closing odometer, catching odometer rollbacks.</a:t>
            </a:r>
          </a:p>
          <a:p>
            <a:pPr>
              <a:spcBef>
                <a:spcPts val="1000"/>
              </a:spcBef>
            </a:pPr>
            <a:r>
              <a:rPr b="1" sz="1150"/>
              <a:t>• High-Precision GNSS Fix: </a:t>
            </a:r>
            <a:r>
              <a:rPr sz="1050">
                <a:solidFill>
                  <a:srgbClr val="64748B"/>
                </a:solidFill>
              </a:rPr>
              <a:t>The phone acquires authentic satellite GPS coordinates (&lt;20m threshold) before duty begins.</a:t>
            </a:r>
          </a:p>
          <a:p>
            <a:pPr>
              <a:spcBef>
                <a:spcPts val="1400"/>
              </a:spcBef>
              <a:defRPr sz="1500" b="1">
                <a:solidFill>
                  <a:srgbClr val="059669"/>
                </a:solidFill>
              </a:defRPr>
            </a:pPr>
            <a:r>
              <a:t>⚡ What Happens Upon Confirmation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Duty status flips to ON DUTY. Background GPS service starts. Admin Live Map marker immediately turns GREEN and displays the supervisor active in the field.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GeoConvey • Supervisor Location Monitoring &amp; Bike Conveyance System  |  Confidential  |  Slide 7 of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STEP 3: CONTINUOUS FIELD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Screen 5: Active 'ON DUTY' Live Tracking Dashboard</a:t>
            </a:r>
          </a:p>
        </p:txBody>
      </p:sp>
      <p:pic>
        <p:nvPicPr>
          <p:cNvPr id="4" name="Picture 3" descr="snap_on_duty_a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2468880" cy="50553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474720" y="1234440"/>
            <a:ext cx="7955279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39" y="1417320"/>
            <a:ext cx="7406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🟢 Real-Time Field Telemetry Dashboard</a:t>
            </a:r>
          </a:p>
          <a:p>
            <a:pPr>
              <a:spcBef>
                <a:spcPts val="800"/>
              </a:spcBef>
            </a:pPr>
            <a:r>
              <a:rPr b="1" sz="1100"/>
              <a:t>• Live Duty Status Beacon: </a:t>
            </a:r>
            <a:r>
              <a:rPr sz="1000">
                <a:solidFill>
                  <a:srgbClr val="64748B"/>
                </a:solidFill>
              </a:rPr>
              <a:t>Prominent green pulsing indicator shows tracking is active and operating.</a:t>
            </a:r>
          </a:p>
          <a:p>
            <a:pPr>
              <a:spcBef>
                <a:spcPts val="800"/>
              </a:spcBef>
            </a:pPr>
            <a:r>
              <a:rPr b="1" sz="1100"/>
              <a:t>• Running GPS Distance: </a:t>
            </a:r>
            <a:r>
              <a:rPr sz="1000">
                <a:solidFill>
                  <a:srgbClr val="64748B"/>
                </a:solidFill>
              </a:rPr>
              <a:t>Live calculation of kilometers traveled today (e.g. 18.40 KM), updating automatically.</a:t>
            </a:r>
          </a:p>
          <a:p>
            <a:pPr>
              <a:spcBef>
                <a:spcPts val="800"/>
              </a:spcBef>
            </a:pPr>
            <a:r>
              <a:rPr b="1" sz="1100"/>
              <a:t>• Estimated Conveyance (₹): </a:t>
            </a:r>
            <a:r>
              <a:rPr sz="1000">
                <a:solidFill>
                  <a:srgbClr val="64748B"/>
                </a:solidFill>
              </a:rPr>
              <a:t>Real-time earnings counter based on supervisor's per-KM rate (e.g. ₹82.80).</a:t>
            </a:r>
          </a:p>
          <a:p>
            <a:pPr>
              <a:spcBef>
                <a:spcPts val="800"/>
              </a:spcBef>
            </a:pPr>
            <a:r>
              <a:rPr b="1" sz="1100"/>
              <a:t>• Android Foreground Service: </a:t>
            </a:r>
            <a:r>
              <a:rPr sz="1000">
                <a:solidFill>
                  <a:srgbClr val="64748B"/>
                </a:solidFill>
              </a:rPr>
              <a:t>Persistent notification tray keeps GPS active even if app is minimized or screen locked.</a:t>
            </a:r>
          </a:p>
          <a:p>
            <a:pPr>
              <a:spcBef>
                <a:spcPts val="800"/>
              </a:spcBef>
            </a:pPr>
            <a:r>
              <a:rPr b="1" sz="1100"/>
              <a:t>• Smart Battery Optimization: </a:t>
            </a:r>
            <a:r>
              <a:rPr sz="1000">
                <a:solidFill>
                  <a:srgbClr val="64748B"/>
                </a:solidFill>
              </a:rPr>
              <a:t>Movement delta (&gt;15m) pauses GPS polling when supervisor is stationary, saving battery.</a:t>
            </a:r>
          </a:p>
          <a:p>
            <a:pPr>
              <a:spcBef>
                <a:spcPts val="800"/>
              </a:spcBef>
            </a:pPr>
            <a:r>
              <a:rPr b="1" sz="1100"/>
              <a:t>• Offline Local Buffer: </a:t>
            </a:r>
            <a:r>
              <a:rPr sz="1000">
                <a:solidFill>
                  <a:srgbClr val="64748B"/>
                </a:solidFill>
              </a:rPr>
              <a:t>If mobile network drops in basements or rural areas, breadcrumbs buffer locally in SQLite.</a:t>
            </a:r>
          </a:p>
          <a:p>
            <a:pPr>
              <a:spcBef>
                <a:spcPts val="1200"/>
              </a:spcBef>
              <a:defRPr sz="1500" b="1">
                <a:solidFill>
                  <a:srgbClr val="EF4444"/>
                </a:solidFill>
              </a:defRPr>
            </a:pPr>
            <a:r>
              <a:t>🏁 Ending Duty (The Red Button)</a:t>
            </a:r>
          </a:p>
          <a:p>
            <a:pPr>
              <a:spcBef>
                <a:spcPts val="500"/>
              </a:spcBef>
              <a:defRPr sz="1050">
                <a:solidFill>
                  <a:srgbClr val="0F172A"/>
                </a:solidFill>
              </a:defRPr>
            </a:pPr>
            <a:r>
              <a:t>When the supervisor finishes work, tapping 'END DUTY' triggers the closing wizard: End Selfie + End Odometer OCR. The system automatically computes total travel distance and submits the session for Admin audit.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GeoConvey • Supervisor Location Monitoring &amp; Bike Conveyance System  |  Confidential  |  Slide 8 of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STEP 4: EMPLOYEE SELF-SERVICE &amp; TRANSPARENCY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Screen 6: Supervisor In-App Attendance &amp; Bike Run Calendar</a:t>
            </a:r>
          </a:p>
        </p:txBody>
      </p:sp>
      <p:pic>
        <p:nvPicPr>
          <p:cNvPr id="4" name="Picture 3" descr="snap_supervisor_atten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2468880" cy="50553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474720" y="1234440"/>
            <a:ext cx="7955279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39" y="1417320"/>
            <a:ext cx="7406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📅 Mobile Attendance Calendar &amp; Day-Wise Bike Run</a:t>
            </a:r>
          </a:p>
          <a:p>
            <a:pPr>
              <a:spcBef>
                <a:spcPts val="800"/>
              </a:spcBef>
            </a:pPr>
            <a:r>
              <a:rPr b="1" sz="1100"/>
              <a:t>• Clean Calendar Layout: </a:t>
            </a:r>
            <a:r>
              <a:rPr sz="1000">
                <a:solidFill>
                  <a:srgbClr val="64748B"/>
                </a:solidFill>
              </a:rPr>
              <a:t>Follows company HR standard calendar styling with month &amp; year navigation.</a:t>
            </a:r>
          </a:p>
          <a:p>
            <a:pPr>
              <a:spcBef>
                <a:spcPts val="800"/>
              </a:spcBef>
            </a:pPr>
            <a:r>
              <a:rPr b="1" sz="1100"/>
              <a:t>• Color-Coded Status Badges: </a:t>
            </a:r>
            <a:r>
              <a:rPr sz="1000">
                <a:solidFill>
                  <a:srgbClr val="64748B"/>
                </a:solidFill>
              </a:rPr>
              <a:t>🟢 Present (Duty logged) | 🟣 Week Off (Sundays) | 🔵 Today | 🔴 Absent.</a:t>
            </a:r>
          </a:p>
          <a:p>
            <a:pPr>
              <a:spcBef>
                <a:spcPts val="800"/>
              </a:spcBef>
            </a:pPr>
            <a:r>
              <a:rPr b="1" sz="1100"/>
              <a:t>• Day-Wise Bike Run Drilldown: </a:t>
            </a:r>
            <a:r>
              <a:rPr sz="1000">
                <a:solidFill>
                  <a:srgbClr val="64748B"/>
                </a:solidFill>
              </a:rPr>
              <a:t>Tapping any day reveals exact approved kilometers run (e.g. 41.80 KM).</a:t>
            </a:r>
          </a:p>
          <a:p>
            <a:pPr>
              <a:spcBef>
                <a:spcPts val="800"/>
              </a:spcBef>
            </a:pPr>
            <a:r>
              <a:rPr b="1" sz="1100"/>
              <a:t>• Conveyance Reimbursement Calculation: </a:t>
            </a:r>
            <a:r>
              <a:rPr sz="1000">
                <a:solidFill>
                  <a:srgbClr val="64748B"/>
                </a:solidFill>
              </a:rPr>
              <a:t>Calculates exact daily conveyance earned (e.g. ₹ 188.10 @ ₹4.50/KM).</a:t>
            </a:r>
          </a:p>
          <a:p>
            <a:pPr>
              <a:spcBef>
                <a:spcPts val="800"/>
              </a:spcBef>
            </a:pPr>
            <a:r>
              <a:rPr b="1" sz="1100"/>
              <a:t>• Odometer &amp; Duty Time Audit: </a:t>
            </a:r>
            <a:r>
              <a:rPr sz="1000">
                <a:solidFill>
                  <a:srgbClr val="64748B"/>
                </a:solidFill>
              </a:rPr>
              <a:t>Shows duty start/end time in IST and odometer start/end numbers for physical proof.</a:t>
            </a:r>
          </a:p>
          <a:p>
            <a:pPr>
              <a:spcBef>
                <a:spcPts val="800"/>
              </a:spcBef>
            </a:pPr>
            <a:r>
              <a:rPr b="1" sz="1100"/>
              <a:t>• Monthly Running Total Bar: </a:t>
            </a:r>
            <a:r>
              <a:rPr sz="1000">
                <a:solidFill>
                  <a:srgbClr val="64748B"/>
                </a:solidFill>
              </a:rPr>
              <a:t>Total Present Days, Week Offs, Total Approved KM, and Total Conveyance ₹.</a:t>
            </a:r>
          </a:p>
          <a:p>
            <a:pPr>
              <a:spcBef>
                <a:spcPts val="800"/>
              </a:spcBef>
            </a:pPr>
            <a:r>
              <a:rPr b="1" sz="1100"/>
              <a:t>• Zero Dispute Guarantee: </a:t>
            </a:r>
            <a:r>
              <a:rPr sz="1000">
                <a:solidFill>
                  <a:srgbClr val="64748B"/>
                </a:solidFill>
              </a:rPr>
              <a:t>Supervisors have 100% daily visibility into their approved earnings before payroll cutoff.</a:t>
            </a:r>
          </a:p>
          <a:p>
            <a:pPr>
              <a:spcBef>
                <a:spcPts val="1200"/>
              </a:spcBef>
              <a:defRPr sz="1500" b="1">
                <a:solidFill>
                  <a:srgbClr val="059669"/>
                </a:solidFill>
              </a:defRPr>
            </a:pPr>
            <a:r>
              <a:t>⭐ Why Field Supervisors Love This Feature</a:t>
            </a:r>
          </a:p>
          <a:p>
            <a:pPr>
              <a:spcBef>
                <a:spcPts val="500"/>
              </a:spcBef>
              <a:defRPr sz="1050">
                <a:solidFill>
                  <a:srgbClr val="0F172A"/>
                </a:solidFill>
              </a:defRPr>
            </a:pPr>
            <a:r>
              <a:t>No more guessing or manual diary entries. Every single kilometer and rupee is transparently verified, building immense trust between field staff and management.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GeoConvey • Supervisor Location Monitoring &amp; Bike Conveyance System  |  Confidential  |  Slide 9 of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STEP 5: FIELD MAINTENANCE &amp;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Screen 7: Zero-Friction In-App APK Auto-Update System</a:t>
            </a:r>
          </a:p>
        </p:txBody>
      </p:sp>
      <p:pic>
        <p:nvPicPr>
          <p:cNvPr id="4" name="Picture 3" descr="snap_inapp_up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2468880" cy="505532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474720" y="1234440"/>
            <a:ext cx="7955279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39" y="1417320"/>
            <a:ext cx="7406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🚀 In-App Direct APK Downloader (No Google Play Needed)</a:t>
            </a:r>
          </a:p>
          <a:p>
            <a:pPr>
              <a:spcBef>
                <a:spcPts val="1000"/>
              </a:spcBef>
            </a:pPr>
            <a:r>
              <a:rPr b="1" sz="1150"/>
              <a:t>• Automated Version Polling: </a:t>
            </a:r>
            <a:r>
              <a:rPr sz="1050">
                <a:solidFill>
                  <a:srgbClr val="64748B"/>
                </a:solidFill>
              </a:rPr>
              <a:t>Client queries cloud API on launch. If a higher versionCode is detected, an update pill illuminates.</a:t>
            </a:r>
          </a:p>
          <a:p>
            <a:pPr>
              <a:spcBef>
                <a:spcPts val="1000"/>
              </a:spcBef>
            </a:pPr>
            <a:r>
              <a:rPr b="1" sz="1150"/>
              <a:t>• In-App Byte Streaming: </a:t>
            </a:r>
            <a:r>
              <a:rPr sz="1050">
                <a:solidFill>
                  <a:srgbClr val="64748B"/>
                </a:solidFill>
              </a:rPr>
              <a:t>Downloads the release APK directly within the app, displaying live percentage and MB progress.</a:t>
            </a:r>
          </a:p>
          <a:p>
            <a:pPr>
              <a:spcBef>
                <a:spcPts val="1000"/>
              </a:spcBef>
            </a:pPr>
            <a:r>
              <a:rPr b="1" sz="1150"/>
              <a:t>• One-Tap Native Installation: </a:t>
            </a:r>
            <a:r>
              <a:rPr sz="1050">
                <a:solidFill>
                  <a:srgbClr val="64748B"/>
                </a:solidFill>
              </a:rPr>
              <a:t>Invokes Android Package Installer with secure FileProvider intents for instant installation.</a:t>
            </a:r>
          </a:p>
          <a:p>
            <a:pPr>
              <a:spcBef>
                <a:spcPts val="1000"/>
              </a:spcBef>
            </a:pPr>
            <a:r>
              <a:rPr b="1" sz="1150"/>
              <a:t>• Changelog Display: </a:t>
            </a:r>
            <a:r>
              <a:rPr sz="1050">
                <a:solidFill>
                  <a:srgbClr val="64748B"/>
                </a:solidFill>
              </a:rPr>
              <a:t>Supervisors read what's new (e.g. Attendance calendar, GPS performance improvements).</a:t>
            </a:r>
          </a:p>
          <a:p>
            <a:pPr>
              <a:spcBef>
                <a:spcPts val="1000"/>
              </a:spcBef>
            </a:pPr>
            <a:r>
              <a:rPr b="1" sz="1150"/>
              <a:t>• Fallback Web Portal: </a:t>
            </a:r>
            <a:r>
              <a:rPr sz="1050">
                <a:solidFill>
                  <a:srgbClr val="64748B"/>
                </a:solidFill>
              </a:rPr>
              <a:t>New supervisors can download the APK anytime from https://supervisor-conveyance.vercel.app/download.</a:t>
            </a:r>
          </a:p>
          <a:p>
            <a:pPr>
              <a:spcBef>
                <a:spcPts val="1400"/>
              </a:spcBef>
              <a:defRPr sz="1500" b="1">
                <a:solidFill>
                  <a:srgbClr val="059669"/>
                </a:solidFill>
              </a:defRPr>
            </a:pPr>
            <a:r>
              <a:t>🛠️ IT Overhead Reduced to Zero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No need to manage Google Play Console review delays or collect physical phones. Feature updates deploy seamlessly to 500+ field supervisors simultaneously.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GeoConvey • Supervisor Location Monitoring &amp; Bike Conveyance System  |  Confidential  |  Slide 10 of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ADMIN ACCESS: REAL-TIME WORKFORCE VISIBILITY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Screen 8: Administrator Live Fleet Monitoring Center</a:t>
            </a:r>
          </a:p>
        </p:txBody>
      </p:sp>
      <p:pic>
        <p:nvPicPr>
          <p:cNvPr id="4" name="Picture 3" descr="snap_admin_liv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583680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280160"/>
            <a:ext cx="3867912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41732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🗺️ Operations Room Capabilities</a:t>
            </a:r>
          </a:p>
          <a:p>
            <a:pPr>
              <a:spcBef>
                <a:spcPts val="800"/>
              </a:spcBef>
            </a:pPr>
            <a:r>
              <a:rPr b="1" sz="1050"/>
              <a:t>Interactive GIS Map: </a:t>
            </a:r>
            <a:r>
              <a:rPr sz="950">
                <a:solidFill>
                  <a:srgbClr val="64748B"/>
                </a:solidFill>
              </a:rPr>
              <a:t>OpenStreetMap / Leaflet live view showing real-time markers for all active supervisors.</a:t>
            </a:r>
          </a:p>
          <a:p>
            <a:pPr>
              <a:spcBef>
                <a:spcPts val="800"/>
              </a:spcBef>
            </a:pPr>
            <a:r>
              <a:rPr b="1" sz="1050"/>
              <a:t>Status Badges: </a:t>
            </a:r>
            <a:r>
              <a:rPr sz="950">
                <a:solidFill>
                  <a:srgbClr val="64748B"/>
                </a:solidFill>
              </a:rPr>
              <a:t>🟢 On Duty (Active Tracking)
🔴 Off Duty (Duty Finished)
🟡 Idle / Stationary</a:t>
            </a:r>
          </a:p>
          <a:p>
            <a:pPr>
              <a:spcBef>
                <a:spcPts val="800"/>
              </a:spcBef>
            </a:pPr>
            <a:r>
              <a:rPr b="1" sz="1050"/>
              <a:t>Live Breadcrumb Trail: </a:t>
            </a:r>
            <a:r>
              <a:rPr sz="950">
                <a:solidFill>
                  <a:srgbClr val="64748B"/>
                </a:solidFill>
              </a:rPr>
              <a:t>Visual polyline of road route traveled so far with start flag and movement direction.</a:t>
            </a:r>
          </a:p>
          <a:p>
            <a:pPr>
              <a:spcBef>
                <a:spcPts val="800"/>
              </a:spcBef>
            </a:pPr>
            <a:r>
              <a:rPr b="1" sz="1050"/>
              <a:t>Telemetry Drawer: </a:t>
            </a:r>
            <a:r>
              <a:rPr sz="950">
                <a:solidFill>
                  <a:srgbClr val="64748B"/>
                </a:solidFill>
              </a:rPr>
              <a:t>Displays supervisor speed (e.g. 32 km/h), battery % (84%), GPS accuracy (6m), and distance.</a:t>
            </a:r>
          </a:p>
          <a:p>
            <a:pPr>
              <a:spcBef>
                <a:spcPts val="800"/>
              </a:spcBef>
            </a:pPr>
            <a:r>
              <a:rPr b="1" sz="1050"/>
              <a:t>Branch Filtering: </a:t>
            </a:r>
            <a:r>
              <a:rPr sz="950">
                <a:solidFill>
                  <a:srgbClr val="64748B"/>
                </a:solidFill>
              </a:rPr>
              <a:t>Filter supervisors by city depot, zone, or operational territory with instant search.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GeoConvey • Supervisor Location Monitoring &amp; Bike Conveyance System  |  Confidential  |  Slide 11 of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ADMIN ACCESS: 1-CLICK VERIFICATION &amp; FRAUD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Screen 9: Duty Session Verification &amp; Audit Modal</a:t>
            </a:r>
          </a:p>
        </p:txBody>
      </p:sp>
      <p:pic>
        <p:nvPicPr>
          <p:cNvPr id="4" name="Picture 3" descr="snap_admin_verification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583680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280160"/>
            <a:ext cx="3867912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41732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🔍 Side-by-Side Audit Evidence</a:t>
            </a:r>
          </a:p>
          <a:p>
            <a:pPr>
              <a:spcBef>
                <a:spcPts val="800"/>
              </a:spcBef>
            </a:pPr>
            <a:r>
              <a:rPr b="1" sz="1050"/>
              <a:t>Photographic Proofs: </a:t>
            </a:r>
            <a:r>
              <a:rPr sz="950">
                <a:solidFill>
                  <a:srgbClr val="64748B"/>
                </a:solidFill>
              </a:rPr>
              <a:t>Side-by-side Start &amp; End Selfies to verify driver identity; Start &amp; End Odometer photos to verify meter dial.</a:t>
            </a:r>
          </a:p>
          <a:p>
            <a:pPr>
              <a:spcBef>
                <a:spcPts val="800"/>
              </a:spcBef>
            </a:pPr>
            <a:r>
              <a:rPr b="1" sz="1050"/>
              <a:t>AI OCR vs GPS Cross-Check: </a:t>
            </a:r>
            <a:r>
              <a:rPr sz="950">
                <a:solidFill>
                  <a:srgbClr val="64748B"/>
                </a:solidFill>
              </a:rPr>
              <a:t>Odometer Distance: 42.0 KM
GPS Distance: 41.8 KM
Variance: 0.48% (NORMAL &lt; 15%)</a:t>
            </a:r>
          </a:p>
          <a:p>
            <a:pPr>
              <a:spcBef>
                <a:spcPts val="800"/>
              </a:spcBef>
            </a:pPr>
            <a:r>
              <a:rPr b="1" sz="1050"/>
              <a:t>Interactive Route Playback: </a:t>
            </a:r>
            <a:r>
              <a:rPr sz="950">
                <a:solidFill>
                  <a:srgbClr val="64748B"/>
                </a:solidFill>
              </a:rPr>
              <a:t>Displays start flag, breadcrumbs along real roads, and finish location.</a:t>
            </a:r>
          </a:p>
          <a:p>
            <a:pPr>
              <a:spcBef>
                <a:spcPts val="800"/>
              </a:spcBef>
            </a:pPr>
            <a:r>
              <a:rPr b="1" sz="1050"/>
              <a:t>1-Click Approval: </a:t>
            </a:r>
            <a:r>
              <a:rPr sz="950">
                <a:solidFill>
                  <a:srgbClr val="64748B"/>
                </a:solidFill>
              </a:rPr>
              <a:t>Approve full GPS distance with one click.</a:t>
            </a:r>
          </a:p>
          <a:p>
            <a:pPr>
              <a:spcBef>
                <a:spcPts val="800"/>
              </a:spcBef>
            </a:pPr>
            <a:r>
              <a:rPr b="1" sz="1050"/>
              <a:t>Adjust KM or Reject: </a:t>
            </a:r>
            <a:r>
              <a:rPr sz="950">
                <a:solidFill>
                  <a:srgbClr val="64748B"/>
                </a:solidFill>
              </a:rPr>
              <a:t>Allows distance adjustment or session rejection with mandatory audit reason comment.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GeoConvey • Supervisor Location Monitoring &amp; Bike Conveyance System  |  Confidential  |  Slide 12 of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ADMIN ACCESS: HR PAYROLL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Screen 10: Admin Day-Wise Attendance Register</a:t>
            </a:r>
          </a:p>
        </p:txBody>
      </p:sp>
      <p:pic>
        <p:nvPicPr>
          <p:cNvPr id="4" name="Picture 3" descr="snap_admin_attendance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583680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280160"/>
            <a:ext cx="3867912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41732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📋 HR Attendance Automation</a:t>
            </a:r>
          </a:p>
          <a:p>
            <a:pPr>
              <a:spcBef>
                <a:spcPts val="800"/>
              </a:spcBef>
            </a:pPr>
            <a:r>
              <a:rPr b="1" sz="1050"/>
              <a:t>Company HR Format: </a:t>
            </a:r>
            <a:r>
              <a:rPr sz="950">
                <a:solidFill>
                  <a:srgbClr val="64748B"/>
                </a:solidFill>
              </a:rPr>
              <a:t>Matches official corporate attendance registers with Day 1 to 31 columns.</a:t>
            </a:r>
          </a:p>
          <a:p>
            <a:pPr>
              <a:spcBef>
                <a:spcPts val="800"/>
              </a:spcBef>
            </a:pPr>
            <a:r>
              <a:rPr b="1" sz="1050"/>
              <a:t>Standard Status Codes: </a:t>
            </a:r>
            <a:r>
              <a:rPr sz="950">
                <a:solidFill>
                  <a:srgbClr val="64748B"/>
                </a:solidFill>
              </a:rPr>
              <a:t>🟢 P = Present (Duty logged)
🟣 WO = Week Off (Sundays)
🔴 A = Absent (No duty)</a:t>
            </a:r>
          </a:p>
          <a:p>
            <a:pPr>
              <a:spcBef>
                <a:spcPts val="800"/>
              </a:spcBef>
            </a:pPr>
            <a:r>
              <a:rPr b="1" sz="1050"/>
              <a:t>Automated Summary Counters: </a:t>
            </a:r>
            <a:r>
              <a:rPr sz="950">
                <a:solidFill>
                  <a:srgbClr val="64748B"/>
                </a:solidFill>
              </a:rPr>
              <a:t>Calculates total Present, Week Offs, and Absent days automatically.</a:t>
            </a:r>
          </a:p>
          <a:p>
            <a:pPr>
              <a:spcBef>
                <a:spcPts val="800"/>
              </a:spcBef>
            </a:pPr>
            <a:r>
              <a:rPr b="1" sz="1050"/>
              <a:t>Instant Excel Download: </a:t>
            </a:r>
            <a:r>
              <a:rPr sz="950">
                <a:solidFill>
                  <a:srgbClr val="64748B"/>
                </a:solidFill>
              </a:rPr>
              <a:t>One-click 'Export to Excel' generates a pre-formatted .xlsx spreadsheet ready for biometric HR systems.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GeoConvey • Supervisor Location Monitoring &amp; Bike Conveyance System  |  Confidential  |  Slide 13 of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ADMIN ACCESS: FINANCE &amp; EXPENSE DISBURSEMENT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Screen 11: Admin Monthly Conveyance Register</a:t>
            </a:r>
          </a:p>
        </p:txBody>
      </p:sp>
      <p:pic>
        <p:nvPicPr>
          <p:cNvPr id="4" name="Picture 3" descr="snap_admin_conveyance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583680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280160"/>
            <a:ext cx="3867912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41732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💰 Finance &amp; Reimbursements</a:t>
            </a:r>
          </a:p>
          <a:p>
            <a:pPr>
              <a:spcBef>
                <a:spcPts val="800"/>
              </a:spcBef>
            </a:pPr>
            <a:r>
              <a:rPr b="1" sz="1050"/>
              <a:t>Day-by-Day Approved KM: </a:t>
            </a:r>
            <a:r>
              <a:rPr sz="950">
                <a:solidFill>
                  <a:srgbClr val="64748B"/>
                </a:solidFill>
              </a:rPr>
              <a:t>Records daily verified kilometers run by each bike supervisor.</a:t>
            </a:r>
          </a:p>
          <a:p>
            <a:pPr>
              <a:spcBef>
                <a:spcPts val="800"/>
              </a:spcBef>
            </a:pPr>
            <a:r>
              <a:rPr b="1" sz="1050"/>
              <a:t>Configurable Rates (₹/KM): </a:t>
            </a:r>
            <a:r>
              <a:rPr sz="950">
                <a:solidFill>
                  <a:srgbClr val="64748B"/>
                </a:solidFill>
              </a:rPr>
              <a:t>Applies individual vehicle conveyance rates (e.g. ₹4.50/KM or ₹5.00/KM).</a:t>
            </a:r>
          </a:p>
          <a:p>
            <a:pPr>
              <a:spcBef>
                <a:spcPts val="800"/>
              </a:spcBef>
            </a:pPr>
            <a:r>
              <a:rPr b="1" sz="1050"/>
              <a:t>Total Payout Calculation: </a:t>
            </a:r>
            <a:r>
              <a:rPr sz="950">
                <a:solidFill>
                  <a:srgbClr val="64748B"/>
                </a:solidFill>
              </a:rPr>
              <a:t>Automatically computes exact monthly payout figures (e.g. ₹2,918.25).</a:t>
            </a:r>
          </a:p>
          <a:p>
            <a:pPr>
              <a:spcBef>
                <a:spcPts val="800"/>
              </a:spcBef>
            </a:pPr>
            <a:r>
              <a:rPr b="1" sz="1050"/>
              <a:t>Audit-Approved Proofs: </a:t>
            </a:r>
            <a:r>
              <a:rPr sz="950">
                <a:solidFill>
                  <a:srgbClr val="64748B"/>
                </a:solidFill>
              </a:rPr>
              <a:t>Every rupee backed by GPS breadcrumbs and odometer dial photographs.</a:t>
            </a:r>
          </a:p>
          <a:p>
            <a:pPr>
              <a:spcBef>
                <a:spcPts val="800"/>
              </a:spcBef>
            </a:pPr>
            <a:r>
              <a:rPr b="1" sz="1050"/>
              <a:t>1-Click Accounts Excel: </a:t>
            </a:r>
            <a:r>
              <a:rPr sz="950">
                <a:solidFill>
                  <a:srgbClr val="64748B"/>
                </a:solidFill>
              </a:rPr>
              <a:t>Exports directly to formatted Excel workbook for bank disbursement.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GeoConvey • Supervisor Location Monitoring &amp; Bike Conveyance System  |  Confidential  |  Slide 14 of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ADMIN ACCESS: WORKFORCE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Screen 12: Admin Supervisor Management &amp; Rate Control</a:t>
            </a:r>
          </a:p>
        </p:txBody>
      </p:sp>
      <p:pic>
        <p:nvPicPr>
          <p:cNvPr id="4" name="Picture 3" descr="snap_admin_supervisor_mgm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583680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280160"/>
            <a:ext cx="3867912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41732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⚙️ Workforce Administration</a:t>
            </a:r>
          </a:p>
          <a:p>
            <a:pPr>
              <a:spcBef>
                <a:spcPts val="800"/>
              </a:spcBef>
            </a:pPr>
            <a:r>
              <a:rPr b="1" sz="1050"/>
              <a:t>Add New Supervisors: </a:t>
            </a:r>
            <a:r>
              <a:rPr sz="950">
                <a:solidFill>
                  <a:srgbClr val="64748B"/>
                </a:solidFill>
              </a:rPr>
              <a:t>Admin onboards field staff with Employee ID, Full Name, Phone, and Branch.</a:t>
            </a:r>
          </a:p>
          <a:p>
            <a:pPr>
              <a:spcBef>
                <a:spcPts val="800"/>
              </a:spcBef>
            </a:pPr>
            <a:r>
              <a:rPr b="1" sz="1050"/>
              <a:t>Vehicle Assignment: </a:t>
            </a:r>
            <a:r>
              <a:rPr sz="950">
                <a:solidFill>
                  <a:srgbClr val="64748B"/>
                </a:solidFill>
              </a:rPr>
              <a:t>Register official bike registration number (e.g. RJ-14-SK-4819).</a:t>
            </a:r>
          </a:p>
          <a:p>
            <a:pPr>
              <a:spcBef>
                <a:spcPts val="800"/>
              </a:spcBef>
            </a:pPr>
            <a:r>
              <a:rPr b="1" sz="1050"/>
              <a:t>Per-KM Conveyance Rate: </a:t>
            </a:r>
            <a:r>
              <a:rPr sz="950">
                <a:solidFill>
                  <a:srgbClr val="64748B"/>
                </a:solidFill>
              </a:rPr>
              <a:t>Set individual per-kilometer reimbursement rate (e.g. ₹4.50 / KM).</a:t>
            </a:r>
          </a:p>
          <a:p>
            <a:pPr>
              <a:spcBef>
                <a:spcPts val="800"/>
              </a:spcBef>
            </a:pPr>
            <a:r>
              <a:rPr b="1" sz="1050"/>
              <a:t>Password &amp; PIN Reset: </a:t>
            </a:r>
            <a:r>
              <a:rPr sz="950">
                <a:solidFill>
                  <a:srgbClr val="64748B"/>
                </a:solidFill>
              </a:rPr>
              <a:t>Admin can reset supervisor credentials instantly if phone is changed.</a:t>
            </a:r>
          </a:p>
          <a:p>
            <a:pPr>
              <a:spcBef>
                <a:spcPts val="800"/>
              </a:spcBef>
            </a:pPr>
            <a:r>
              <a:rPr b="1" sz="1050"/>
              <a:t>Account Deactivation: </a:t>
            </a:r>
            <a:r>
              <a:rPr sz="950">
                <a:solidFill>
                  <a:srgbClr val="64748B"/>
                </a:solidFill>
              </a:rPr>
              <a:t>Instantly revoke login access if an employee leaves the organization.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GeoConvey • Supervisor Location Monitoring &amp; Bike Conveyance System  |  Confidential  |  Slide 15 of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0B981"/>
                </a:solidFill>
              </a:defRPr>
            </a:pPr>
            <a:r>
              <a:t>FINANCIAL ROI &amp; EXECUTIVE SIGN-OFF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Measurable Business Impact &amp; Company Rollout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14600" cy="1828800"/>
          </a:xfrm>
          <a:prstGeom prst="roundRect">
            <a:avLst/>
          </a:prstGeom>
          <a:solidFill>
            <a:srgbClr val="182138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240280" cy="15544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2600" b="1">
                <a:solidFill>
                  <a:srgbClr val="10B981"/>
                </a:solidFill>
              </a:defRPr>
            </a:pPr>
            <a:r>
              <a:t>25% - 35%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Conveyance Cost Savings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Eliminates inflated mileage claims.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514600" cy="1828800"/>
          </a:xfrm>
          <a:prstGeom prst="roundRect">
            <a:avLst/>
          </a:prstGeom>
          <a:solidFill>
            <a:srgbClr val="182138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79" y="1600200"/>
            <a:ext cx="2240280" cy="15544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2600" b="1">
                <a:solidFill>
                  <a:srgbClr val="2563EB"/>
                </a:solidFill>
              </a:defRPr>
            </a:pPr>
            <a:r>
              <a:t>90%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Time Saved in Audits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1-click OCR replaces manual logbooks.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2514600" cy="1828800"/>
          </a:xfrm>
          <a:prstGeom prst="roundRect">
            <a:avLst/>
          </a:prstGeom>
          <a:solidFill>
            <a:srgbClr val="182138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00200"/>
            <a:ext cx="2240280" cy="15544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2600" b="1">
                <a:solidFill>
                  <a:srgbClr val="8B5CF6"/>
                </a:solidFill>
              </a:defRPr>
            </a:pPr>
            <a:r>
              <a:t>100%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Dispute-Free Settlements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Clear daily calendar visibility.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463040"/>
            <a:ext cx="2514600" cy="1828800"/>
          </a:xfrm>
          <a:prstGeom prst="roundRect">
            <a:avLst/>
          </a:prstGeom>
          <a:solidFill>
            <a:srgbClr val="182138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600200"/>
            <a:ext cx="2240280" cy="155448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2600" b="1">
                <a:solidFill>
                  <a:srgbClr val="EF4444"/>
                </a:solidFill>
              </a:defRPr>
            </a:pPr>
            <a:r>
              <a:t>0%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Mock GPS Spoofing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Developer mode hardware blocking.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0440"/>
            <a:ext cx="10728655" cy="1554480"/>
          </a:xfrm>
          <a:prstGeom prst="roundRect">
            <a:avLst/>
          </a:prstGeom>
          <a:solidFill>
            <a:srgbClr val="182138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🗓️ Rapid 3-Week Implementation Roadmap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• Week 1: Pilot cohort (10-15 supervisors) across urban &amp; rural routes.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• Week 2: Full company onboarding via direct APK link &amp; Admin operations training.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• Week 3: Automated monthly Excel export &amp; integration with accounts payroll.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57800"/>
            <a:ext cx="10728655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34924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Ready for Immediate Deployment  •  Live System Demo</a:t>
            </a:r>
          </a:p>
          <a:p>
            <a:pPr>
              <a:spcBef>
                <a:spcPts val="200"/>
              </a:spcBef>
              <a:defRPr sz="1050">
                <a:solidFill>
                  <a:srgbClr val="F0FDF4"/>
                </a:solidFill>
              </a:defRPr>
            </a:pPr>
            <a:r>
              <a:t>Portal: https://supervisor-conveyance.vercel.app  •  Mobile APK: v1.0.6 (Build 7) Ready for Download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GeoConvey • Supervisor Location Monitoring &amp; Bike Conveyance System  |  Confidential  |  Slide 16 of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